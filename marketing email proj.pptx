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Nunito"/>
      <p:regular r:id="rId27"/>
      <p:bold r:id="rId28"/>
      <p:italic r:id="rId29"/>
      <p:boldItalic r:id="rId30"/>
    </p:embeddedFont>
    <p:embeddedFont>
      <p:font typeface="Maven Pro SemiBold"/>
      <p:regular r:id="rId31"/>
      <p:bold r:id="rId32"/>
    </p:embeddedFont>
    <p:embeddedFont>
      <p:font typeface="Maven Pro"/>
      <p:regular r:id="rId33"/>
      <p:bold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Nunito-bold.fntdata"/><Relationship Id="rId27" Type="http://schemas.openxmlformats.org/officeDocument/2006/relationships/font" Target="fonts/Nunito-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Nunito-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avenProSemiBold-regular.fntdata"/><Relationship Id="rId30" Type="http://schemas.openxmlformats.org/officeDocument/2006/relationships/font" Target="fonts/Nunito-boldItalic.fntdata"/><Relationship Id="rId11" Type="http://schemas.openxmlformats.org/officeDocument/2006/relationships/slide" Target="slides/slide6.xml"/><Relationship Id="rId33" Type="http://schemas.openxmlformats.org/officeDocument/2006/relationships/font" Target="fonts/MavenPro-regular.fntdata"/><Relationship Id="rId10" Type="http://schemas.openxmlformats.org/officeDocument/2006/relationships/slide" Target="slides/slide5.xml"/><Relationship Id="rId32" Type="http://schemas.openxmlformats.org/officeDocument/2006/relationships/font" Target="fonts/MavenProSemiBold-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MavenPro-bold.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cb289ca96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cb289ca96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3ca340361d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6" name="Google Shape;286;g3ca340361d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ca340361dc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ca340361dc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We tested how email tone and send date influence the </a:t>
            </a:r>
            <a:r>
              <a:rPr lang="en"/>
              <a:t>engagement</a:t>
            </a:r>
            <a:r>
              <a:rPr lang="en"/>
              <a:t> in the email campaigns sent out to users. We compared two styles of tone, conversational and alarming along with tracking the day of the week the emails were sent as well beginning in March.  Each email included engagement results, such as how many times they were opened, clicked on, and </a:t>
            </a:r>
            <a:r>
              <a:rPr lang="en"/>
              <a:t>unsubscribed</a:t>
            </a:r>
            <a:r>
              <a:rPr lang="en"/>
              <a:t>. The goal was to </a:t>
            </a:r>
            <a:r>
              <a:rPr lang="en"/>
              <a:t>identify</a:t>
            </a:r>
            <a:r>
              <a:rPr lang="en"/>
              <a:t> patterns associated with stronger customer engagement.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3cb289ca968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3cb289ca968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ca340361dc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ca340361dc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These black lines extending from the column chart are error bars, they represent + or - 1 standard deviation from the mean. A taller / longer error bar means more variability, whereas a more compact error bar indicates less </a:t>
            </a:r>
            <a:r>
              <a:rPr lang="en"/>
              <a:t>variability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Regarding open rate, the conversational approach had a  lower average open rate of 0.08, and the alarming approach had a higher average open rate of 0.13, and additionally  the alarming tone also showed of a longer error bar, which could suggest greater variability in open rates compared to the conversational tone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3cad7d234c9_0_10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3cad7d234c9_0_10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a:t>	The line in the middle shows the median, and the box itself represents the middle half of the data.  Where the box starts represents q1, the lower quartile and where the box ends represents q3, the upper quartile. The lines extending outward shows how far the data spreads beyond the middle range. </a:t>
            </a:r>
            <a:endParaRPr/>
          </a:p>
          <a:p>
            <a:pPr indent="0" lvl="0" marL="457200" rtl="0" algn="l">
              <a:lnSpc>
                <a:spcPct val="115000"/>
              </a:lnSpc>
              <a:spcBef>
                <a:spcPts val="1200"/>
              </a:spcBef>
              <a:spcAft>
                <a:spcPts val="1200"/>
              </a:spcAft>
              <a:buNone/>
            </a:pPr>
            <a:r>
              <a:rPr lang="en"/>
              <a:t>From the graphs shown, we can see that regarding tones, the conversational tone had a higher quartile1, meaning the values of low</a:t>
            </a:r>
            <a:r>
              <a:rPr lang="en"/>
              <a:t>er ranges</a:t>
            </a:r>
            <a:r>
              <a:rPr lang="en"/>
              <a:t> were higher. The alarming tone shows a lower quartile1, but also shows a slightly higher median. This suggests that while alarming emails had more instances of lower click rates, the typical performance was still slightly higher than that of the conversational tone. Additionally, we can see the  top whisker for the conversational tone being 0.1, whereas the top whisker for the alarming tone was closer to 0.08, meaning that  the conversational tone also contained a higher upper range. Overall this suggests that hte conversational tone consisted of higher values in the lower range, as well as reaching a higher upper range. Additionally, the alarming tone shows a slightly higher median,  meaning the </a:t>
            </a:r>
            <a:r>
              <a:rPr lang="en"/>
              <a:t>typical</a:t>
            </a:r>
            <a:r>
              <a:rPr lang="en"/>
              <a:t> click rate was slightly higher despite having more instances of low values.  Therefore </a:t>
            </a:r>
            <a:r>
              <a:rPr lang="en"/>
              <a:t>conversational</a:t>
            </a:r>
            <a:r>
              <a:rPr lang="en"/>
              <a:t> emails were more consistent overall, with fewer low extreme outcomes, although alarming email achieved slightly higher click rates.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caf73145fc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caf73145fc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For open to click rate, we can see that the conversational approach once again did better  regarding open to </a:t>
            </a:r>
            <a:r>
              <a:rPr lang="en"/>
              <a:t>click</a:t>
            </a:r>
            <a:r>
              <a:rPr lang="en"/>
              <a:t> rate with a rate of 0.60, whereas the alarming tone had a rate of 0.35. The error bars are roughly of similar length which suggests similar </a:t>
            </a:r>
            <a:r>
              <a:rPr lang="en"/>
              <a:t>variability</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3caf73145fc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4" name="Google Shape;324;g3caf73145fc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caf73145fc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1" name="Google Shape;331;g3caf73145fc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3caf73145fc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3caf73145fc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c0a8a9dd2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c0a8a9dd2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g3c462a90086_1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1" name="Google Shape;351;g3c462a90086_1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6" name="Shape 356"/>
        <p:cNvGrpSpPr/>
        <p:nvPr/>
      </p:nvGrpSpPr>
      <p:grpSpPr>
        <a:xfrm>
          <a:off x="0" y="0"/>
          <a:ext cx="0" cy="0"/>
          <a:chOff x="0" y="0"/>
          <a:chExt cx="0" cy="0"/>
        </a:xfrm>
      </p:grpSpPr>
      <p:sp>
        <p:nvSpPr>
          <p:cNvPr id="357" name="Google Shape;357;g3c462a90086_1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8" name="Google Shape;358;g3c462a90086_1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c0a8a9dd2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c0a8a9dd2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1" name="Shape 371"/>
        <p:cNvGrpSpPr/>
        <p:nvPr/>
      </p:nvGrpSpPr>
      <p:grpSpPr>
        <a:xfrm>
          <a:off x="0" y="0"/>
          <a:ext cx="0" cy="0"/>
          <a:chOff x="0" y="0"/>
          <a:chExt cx="0" cy="0"/>
        </a:xfrm>
      </p:grpSpPr>
      <p:sp>
        <p:nvSpPr>
          <p:cNvPr id="372" name="Google Shape;372;g3c0a8a9dd2b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3" name="Google Shape;373;g3c0a8a9dd2b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g3cb289ca96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0" name="Google Shape;380;g3cb289ca96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cb289ca968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cb289ca968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g3cb289ca968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2" name="Google Shape;392;g3cb289ca968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Clr>
                <a:schemeClr val="dk1"/>
              </a:buClr>
              <a:buSzPts val="1100"/>
              <a:buFont typeface="Arial"/>
              <a:buNone/>
            </a:pPr>
            <a:r>
              <a:t/>
            </a:r>
            <a:endParaRPr sz="1500">
              <a:solidFill>
                <a:srgbClr val="424242"/>
              </a:solidFill>
              <a:latin typeface="Nunito"/>
              <a:ea typeface="Nunito"/>
              <a:cs typeface="Nunito"/>
              <a:sym typeface="Nunito"/>
            </a:endParaRPr>
          </a:p>
          <a:p>
            <a:pPr indent="0" lvl="0" marL="0" rtl="0" algn="l">
              <a:lnSpc>
                <a:spcPct val="95000"/>
              </a:lnSpc>
              <a:spcBef>
                <a:spcPts val="1200"/>
              </a:spcBef>
              <a:spcAft>
                <a:spcPts val="1200"/>
              </a:spcAft>
              <a:buClr>
                <a:schemeClr val="dk1"/>
              </a:buClr>
              <a:buSzPts val="1100"/>
              <a:buFont typeface="Arial"/>
              <a:buNone/>
            </a:pPr>
            <a:r>
              <a:rPr lang="en" sz="1500">
                <a:solidFill>
                  <a:srgbClr val="1F2328"/>
                </a:solidFill>
                <a:highlight>
                  <a:schemeClr val="lt1"/>
                </a:highlight>
                <a:latin typeface="Nunito"/>
                <a:ea typeface="Nunito"/>
                <a:cs typeface="Nunito"/>
                <a:sym typeface="Nunito"/>
              </a:rPr>
              <a:t>We determined the conversational tone promoted more positive user engagement via open to click rate, unsubscribe rate, and order rate. Net sales was also greater due to the increased order rate. Additionally, we found that Monday is our best day for sending emails and receiving back positive user engagement via open rate and click rate.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6" name="Shape 396"/>
        <p:cNvGrpSpPr/>
        <p:nvPr/>
      </p:nvGrpSpPr>
      <p:grpSpPr>
        <a:xfrm>
          <a:off x="0" y="0"/>
          <a:ext cx="0" cy="0"/>
          <a:chOff x="0" y="0"/>
          <a:chExt cx="0" cy="0"/>
        </a:xfrm>
      </p:grpSpPr>
      <p:sp>
        <p:nvSpPr>
          <p:cNvPr id="397" name="Google Shape;397;g3cb4e8ad2a5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8" name="Google Shape;398;g3cb4e8ad2a5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cb301d9366_38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cb301d9366_38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3"/>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 name="Google Shape;29;p2"/>
          <p:cNvGrpSpPr/>
          <p:nvPr/>
        </p:nvGrpSpPr>
        <p:grpSpPr>
          <a:xfrm>
            <a:off x="5043503" y="0"/>
            <a:ext cx="3814072" cy="3839102"/>
            <a:chOff x="5043503" y="0"/>
            <a:chExt cx="3814072" cy="3839102"/>
          </a:xfrm>
        </p:grpSpPr>
        <p:sp>
          <p:nvSpPr>
            <p:cNvPr id="30" name="Google Shape;30;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 name="Google Shape;32;p2"/>
            <p:cNvGrpSpPr/>
            <p:nvPr/>
          </p:nvGrpSpPr>
          <p:grpSpPr>
            <a:xfrm>
              <a:off x="7647812" y="2704283"/>
              <a:ext cx="635219" cy="635219"/>
              <a:chOff x="6725724" y="2701260"/>
              <a:chExt cx="1208101" cy="1208100"/>
            </a:xfrm>
          </p:grpSpPr>
          <p:sp>
            <p:nvSpPr>
              <p:cNvPr id="33" name="Google Shape;33;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952720" y="179238"/>
              <a:ext cx="873165" cy="873003"/>
              <a:chOff x="7754428" y="208725"/>
              <a:chExt cx="541800" cy="541800"/>
            </a:xfrm>
          </p:grpSpPr>
          <p:sp>
            <p:nvSpPr>
              <p:cNvPr id="38" name="Google Shape;38;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0" name="Google Shape;40;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 name="Google Shape;46;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47" name="Google Shape;47;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Google Shape;48;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502625" y="1963350"/>
            <a:ext cx="70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8000"/>
              <a:buNone/>
              <a:defRPr sz="8000">
                <a:solidFill>
                  <a:schemeClr val="lt1"/>
                </a:solidFill>
              </a:defRPr>
            </a:lvl1pPr>
            <a:lvl2pPr lvl="1" algn="ctr">
              <a:spcBef>
                <a:spcPts val="0"/>
              </a:spcBef>
              <a:spcAft>
                <a:spcPts val="0"/>
              </a:spcAft>
              <a:buClr>
                <a:schemeClr val="lt1"/>
              </a:buClr>
              <a:buSzPts val="8000"/>
              <a:buNone/>
              <a:defRPr sz="8000">
                <a:solidFill>
                  <a:schemeClr val="lt1"/>
                </a:solidFill>
              </a:defRPr>
            </a:lvl2pPr>
            <a:lvl3pPr lvl="2" algn="ctr">
              <a:spcBef>
                <a:spcPts val="0"/>
              </a:spcBef>
              <a:spcAft>
                <a:spcPts val="0"/>
              </a:spcAft>
              <a:buClr>
                <a:schemeClr val="lt1"/>
              </a:buClr>
              <a:buSzPts val="8000"/>
              <a:buNone/>
              <a:defRPr sz="8000">
                <a:solidFill>
                  <a:schemeClr val="lt1"/>
                </a:solidFill>
              </a:defRPr>
            </a:lvl3pPr>
            <a:lvl4pPr lvl="3" algn="ctr">
              <a:spcBef>
                <a:spcPts val="0"/>
              </a:spcBef>
              <a:spcAft>
                <a:spcPts val="0"/>
              </a:spcAft>
              <a:buClr>
                <a:schemeClr val="lt1"/>
              </a:buClr>
              <a:buSzPts val="8000"/>
              <a:buNone/>
              <a:defRPr sz="8000">
                <a:solidFill>
                  <a:schemeClr val="lt1"/>
                </a:solidFill>
              </a:defRPr>
            </a:lvl4pPr>
            <a:lvl5pPr lvl="4" algn="ctr">
              <a:spcBef>
                <a:spcPts val="0"/>
              </a:spcBef>
              <a:spcAft>
                <a:spcPts val="0"/>
              </a:spcAft>
              <a:buClr>
                <a:schemeClr val="lt1"/>
              </a:buClr>
              <a:buSzPts val="8000"/>
              <a:buNone/>
              <a:defRPr sz="8000">
                <a:solidFill>
                  <a:schemeClr val="lt1"/>
                </a:solidFill>
              </a:defRPr>
            </a:lvl5pPr>
            <a:lvl6pPr lvl="5" algn="ctr">
              <a:spcBef>
                <a:spcPts val="0"/>
              </a:spcBef>
              <a:spcAft>
                <a:spcPts val="0"/>
              </a:spcAft>
              <a:buClr>
                <a:schemeClr val="lt1"/>
              </a:buClr>
              <a:buSzPts val="8000"/>
              <a:buNone/>
              <a:defRPr sz="8000">
                <a:solidFill>
                  <a:schemeClr val="lt1"/>
                </a:solidFill>
              </a:defRPr>
            </a:lvl6pPr>
            <a:lvl7pPr lvl="6" algn="ctr">
              <a:spcBef>
                <a:spcPts val="0"/>
              </a:spcBef>
              <a:spcAft>
                <a:spcPts val="0"/>
              </a:spcAft>
              <a:buClr>
                <a:schemeClr val="lt1"/>
              </a:buClr>
              <a:buSzPts val="8000"/>
              <a:buNone/>
              <a:defRPr sz="8000">
                <a:solidFill>
                  <a:schemeClr val="lt1"/>
                </a:solidFill>
              </a:defRPr>
            </a:lvl7pPr>
            <a:lvl8pPr lvl="7" algn="ctr">
              <a:spcBef>
                <a:spcPts val="0"/>
              </a:spcBef>
              <a:spcAft>
                <a:spcPts val="0"/>
              </a:spcAft>
              <a:buClr>
                <a:schemeClr val="lt1"/>
              </a:buClr>
              <a:buSzPts val="8000"/>
              <a:buNone/>
              <a:defRPr sz="8000">
                <a:solidFill>
                  <a:schemeClr val="lt1"/>
                </a:solidFill>
              </a:defRPr>
            </a:lvl8pPr>
            <a:lvl9pPr lvl="8" algn="ctr">
              <a:spcBef>
                <a:spcPts val="0"/>
              </a:spcBef>
              <a:spcAft>
                <a:spcPts val="0"/>
              </a:spcAft>
              <a:buClr>
                <a:schemeClr val="lt1"/>
              </a:buClr>
              <a:buSzPts val="8000"/>
              <a:buNone/>
              <a:defRPr sz="8000">
                <a:solidFill>
                  <a:schemeClr val="lt1"/>
                </a:solidFill>
              </a:defRPr>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Clr>
                <a:schemeClr val="lt1"/>
              </a:buClr>
              <a:buSzPts val="1300"/>
              <a:buChar char="●"/>
              <a:defRPr>
                <a:solidFill>
                  <a:schemeClr val="lt1"/>
                </a:solidFill>
              </a:defRPr>
            </a:lvl1pPr>
            <a:lvl2pPr indent="-298450" lvl="1" marL="914400" algn="ctr">
              <a:spcBef>
                <a:spcPts val="0"/>
              </a:spcBef>
              <a:spcAft>
                <a:spcPts val="0"/>
              </a:spcAft>
              <a:buClr>
                <a:schemeClr val="lt1"/>
              </a:buClr>
              <a:buSzPts val="1100"/>
              <a:buChar char="○"/>
              <a:defRPr>
                <a:solidFill>
                  <a:schemeClr val="lt1"/>
                </a:solidFill>
              </a:defRPr>
            </a:lvl2pPr>
            <a:lvl3pPr indent="-298450" lvl="2" marL="1371600" algn="ctr">
              <a:spcBef>
                <a:spcPts val="0"/>
              </a:spcBef>
              <a:spcAft>
                <a:spcPts val="0"/>
              </a:spcAft>
              <a:buClr>
                <a:schemeClr val="lt1"/>
              </a:buClr>
              <a:buSzPts val="1100"/>
              <a:buChar char="■"/>
              <a:defRPr>
                <a:solidFill>
                  <a:schemeClr val="lt1"/>
                </a:solidFill>
              </a:defRPr>
            </a:lvl3pPr>
            <a:lvl4pPr indent="-298450" lvl="3" marL="1828800" algn="ctr">
              <a:spcBef>
                <a:spcPts val="0"/>
              </a:spcBef>
              <a:spcAft>
                <a:spcPts val="0"/>
              </a:spcAft>
              <a:buClr>
                <a:schemeClr val="lt1"/>
              </a:buClr>
              <a:buSzPts val="1100"/>
              <a:buChar char="●"/>
              <a:defRPr>
                <a:solidFill>
                  <a:schemeClr val="lt1"/>
                </a:solidFill>
              </a:defRPr>
            </a:lvl4pPr>
            <a:lvl5pPr indent="-298450" lvl="4" marL="2286000" algn="ctr">
              <a:spcBef>
                <a:spcPts val="0"/>
              </a:spcBef>
              <a:spcAft>
                <a:spcPts val="0"/>
              </a:spcAft>
              <a:buClr>
                <a:schemeClr val="lt1"/>
              </a:buClr>
              <a:buSzPts val="1100"/>
              <a:buChar char="○"/>
              <a:defRPr>
                <a:solidFill>
                  <a:schemeClr val="lt1"/>
                </a:solidFill>
              </a:defRPr>
            </a:lvl5pPr>
            <a:lvl6pPr indent="-298450" lvl="5" marL="2743200" algn="ctr">
              <a:spcBef>
                <a:spcPts val="0"/>
              </a:spcBef>
              <a:spcAft>
                <a:spcPts val="0"/>
              </a:spcAft>
              <a:buClr>
                <a:schemeClr val="lt1"/>
              </a:buClr>
              <a:buSzPts val="1100"/>
              <a:buChar char="■"/>
              <a:defRPr>
                <a:solidFill>
                  <a:schemeClr val="lt1"/>
                </a:solidFill>
              </a:defRPr>
            </a:lvl6pPr>
            <a:lvl7pPr indent="-298450" lvl="6" marL="3200400" algn="ctr">
              <a:spcBef>
                <a:spcPts val="0"/>
              </a:spcBef>
              <a:spcAft>
                <a:spcPts val="0"/>
              </a:spcAft>
              <a:buClr>
                <a:schemeClr val="lt1"/>
              </a:buClr>
              <a:buSzPts val="1100"/>
              <a:buChar char="●"/>
              <a:defRPr>
                <a:solidFill>
                  <a:schemeClr val="lt1"/>
                </a:solidFill>
              </a:defRPr>
            </a:lvl7pPr>
            <a:lvl8pPr indent="-298450" lvl="7" marL="3657600" algn="ctr">
              <a:spcBef>
                <a:spcPts val="0"/>
              </a:spcBef>
              <a:spcAft>
                <a:spcPts val="0"/>
              </a:spcAft>
              <a:buClr>
                <a:schemeClr val="lt1"/>
              </a:buClr>
              <a:buSzPts val="1100"/>
              <a:buChar char="○"/>
              <a:defRPr>
                <a:solidFill>
                  <a:schemeClr val="lt1"/>
                </a:solidFill>
              </a:defRPr>
            </a:lvl8pPr>
            <a:lvl9pPr indent="-298450" lvl="8" marL="4114800" algn="ctr">
              <a:spcBef>
                <a:spcPts val="0"/>
              </a:spcBef>
              <a:spcAft>
                <a:spcPts val="0"/>
              </a:spcAft>
              <a:buClr>
                <a:schemeClr val="lt1"/>
              </a:buClr>
              <a:buSzPts val="1100"/>
              <a:buChar char="■"/>
              <a:defRPr>
                <a:solidFill>
                  <a:schemeClr val="lt1"/>
                </a:solidFill>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13"/>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Email Marketing Analysis </a:t>
            </a:r>
            <a:endParaRPr/>
          </a:p>
        </p:txBody>
      </p:sp>
      <p:sp>
        <p:nvSpPr>
          <p:cNvPr id="278" name="Google Shape;278;p13"/>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fontScale="85000"/>
          </a:bodyPr>
          <a:lstStyle/>
          <a:p>
            <a:pPr indent="0" lvl="0" marL="0" rtl="0" algn="l">
              <a:spcBef>
                <a:spcPts val="0"/>
              </a:spcBef>
              <a:spcAft>
                <a:spcPts val="0"/>
              </a:spcAft>
              <a:buNone/>
            </a:pPr>
            <a:r>
              <a:rPr lang="en"/>
              <a:t>Drew Pickett, Abdirahman Ali, Matthew Grega, Julien Smith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Business</a:t>
            </a:r>
            <a:r>
              <a:rPr lang="en"/>
              <a:t> Objective and Experiment Setup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Business Objective: </a:t>
            </a:r>
            <a:endParaRPr/>
          </a:p>
        </p:txBody>
      </p:sp>
      <p:sp>
        <p:nvSpPr>
          <p:cNvPr id="289" name="Google Shape;289;p15"/>
          <p:cNvSpPr txBox="1"/>
          <p:nvPr>
            <p:ph idx="1" type="body"/>
          </p:nvPr>
        </p:nvSpPr>
        <p:spPr>
          <a:xfrm>
            <a:off x="596500" y="1883050"/>
            <a:ext cx="7030500" cy="25416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None/>
            </a:pPr>
            <a:r>
              <a:rPr lang="en" sz="1500"/>
              <a:t>We want to determine what email strategies drive more user engagement and sales. To do so we will run statistical tests on previous email metrics gauging what tone of speech and days of the week produce better results via open rate, click rate, unsubscribe rate, etc. We will present our findings with visualizations and analyses.</a:t>
            </a:r>
            <a:endParaRPr sz="1500"/>
          </a:p>
          <a:p>
            <a:pPr indent="0" lvl="0" marL="0" rtl="0" algn="l">
              <a:lnSpc>
                <a:spcPct val="95000"/>
              </a:lnSpc>
              <a:spcBef>
                <a:spcPts val="1200"/>
              </a:spcBef>
              <a:spcAft>
                <a:spcPts val="1200"/>
              </a:spcAft>
              <a:buNone/>
            </a:pPr>
            <a:r>
              <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p1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Experiment Setup </a:t>
            </a:r>
            <a:endParaRPr/>
          </a:p>
        </p:txBody>
      </p:sp>
      <p:sp>
        <p:nvSpPr>
          <p:cNvPr id="295" name="Google Shape;295;p16"/>
          <p:cNvSpPr txBox="1"/>
          <p:nvPr>
            <p:ph idx="1" type="body"/>
          </p:nvPr>
        </p:nvSpPr>
        <p:spPr>
          <a:xfrm>
            <a:off x="502625" y="1963350"/>
            <a:ext cx="7030500" cy="2541600"/>
          </a:xfrm>
          <a:prstGeom prst="rect">
            <a:avLst/>
          </a:prstGeom>
        </p:spPr>
        <p:txBody>
          <a:bodyPr anchorCtr="0" anchor="t" bIns="91425" lIns="91425" spcFirstLastPara="1" rIns="91425" wrap="square" tIns="91425">
            <a:normAutofit lnSpcReduction="10000"/>
          </a:bodyPr>
          <a:lstStyle/>
          <a:p>
            <a:pPr indent="-323850" lvl="0" marL="457200" rtl="0" algn="l">
              <a:spcBef>
                <a:spcPts val="0"/>
              </a:spcBef>
              <a:spcAft>
                <a:spcPts val="0"/>
              </a:spcAft>
              <a:buSzPts val="1500"/>
              <a:buChar char="●"/>
            </a:pPr>
            <a:r>
              <a:rPr b="1" lang="en" sz="1500"/>
              <a:t>Overview: </a:t>
            </a:r>
            <a:r>
              <a:rPr lang="en" sz="1500"/>
              <a:t>Tested how email tone and send date affect customer engagement</a:t>
            </a:r>
            <a:endParaRPr sz="1500"/>
          </a:p>
          <a:p>
            <a:pPr indent="-323850" lvl="0" marL="457200" rtl="0" algn="l">
              <a:lnSpc>
                <a:spcPct val="100000"/>
              </a:lnSpc>
              <a:spcBef>
                <a:spcPts val="0"/>
              </a:spcBef>
              <a:spcAft>
                <a:spcPts val="0"/>
              </a:spcAft>
              <a:buSzPts val="1500"/>
              <a:buChar char="●"/>
            </a:pPr>
            <a:r>
              <a:rPr b="1" lang="en" sz="1500"/>
              <a:t>Tone styles analyzed: </a:t>
            </a:r>
            <a:r>
              <a:rPr lang="en" sz="1500"/>
              <a:t>conversational vs alarming </a:t>
            </a:r>
            <a:endParaRPr sz="1500"/>
          </a:p>
          <a:p>
            <a:pPr indent="-323850" lvl="0" marL="457200" rtl="0" algn="l">
              <a:lnSpc>
                <a:spcPct val="100000"/>
              </a:lnSpc>
              <a:spcBef>
                <a:spcPts val="0"/>
              </a:spcBef>
              <a:spcAft>
                <a:spcPts val="0"/>
              </a:spcAft>
              <a:buSzPts val="1500"/>
              <a:buChar char="●"/>
            </a:pPr>
            <a:r>
              <a:rPr b="1" lang="en" sz="1500"/>
              <a:t>Send date: </a:t>
            </a:r>
            <a:r>
              <a:rPr lang="en" sz="1500"/>
              <a:t>beginning in march, tracked day of the week </a:t>
            </a:r>
            <a:endParaRPr sz="1500"/>
          </a:p>
          <a:p>
            <a:pPr indent="-323850" lvl="0" marL="457200" rtl="0" algn="l">
              <a:spcBef>
                <a:spcPts val="0"/>
              </a:spcBef>
              <a:spcAft>
                <a:spcPts val="0"/>
              </a:spcAft>
              <a:buSzPts val="1500"/>
              <a:buChar char="●"/>
            </a:pPr>
            <a:r>
              <a:rPr b="1" lang="en" sz="1500"/>
              <a:t>Analyzed data: </a:t>
            </a:r>
            <a:r>
              <a:rPr lang="en" sz="1500"/>
              <a:t>Send date, subject line, tone group, and engagement results </a:t>
            </a:r>
            <a:endParaRPr b="1" sz="1500"/>
          </a:p>
          <a:p>
            <a:pPr indent="-323850" lvl="0" marL="457200" rtl="0" algn="l">
              <a:spcBef>
                <a:spcPts val="0"/>
              </a:spcBef>
              <a:spcAft>
                <a:spcPts val="0"/>
              </a:spcAft>
              <a:buSzPts val="1500"/>
              <a:buChar char="●"/>
            </a:pPr>
            <a:r>
              <a:rPr b="1" lang="en" sz="1500"/>
              <a:t>Key metrics: </a:t>
            </a:r>
            <a:r>
              <a:rPr lang="en" sz="1500"/>
              <a:t>Open rate, click rate, unsubscribe rate, and sales amount. </a:t>
            </a:r>
            <a:endParaRPr sz="1500"/>
          </a:p>
          <a:p>
            <a:pPr indent="-323850" lvl="0" marL="457200" rtl="0" algn="l">
              <a:spcBef>
                <a:spcPts val="0"/>
              </a:spcBef>
              <a:spcAft>
                <a:spcPts val="0"/>
              </a:spcAft>
              <a:buSzPts val="1500"/>
              <a:buChar char="●"/>
            </a:pPr>
            <a:r>
              <a:rPr b="1" lang="en" sz="1500"/>
              <a:t>Goal: </a:t>
            </a:r>
            <a:r>
              <a:rPr lang="en" sz="1500"/>
              <a:t>Identify patterns linked to stronger engagement </a:t>
            </a:r>
            <a:endParaRPr sz="1500"/>
          </a:p>
          <a:p>
            <a:pPr indent="0" lvl="0" marL="45720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17"/>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How did tone affect engagement rate?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Results for Open Rate vs Tone </a:t>
            </a:r>
            <a:endParaRPr/>
          </a:p>
        </p:txBody>
      </p:sp>
      <p:sp>
        <p:nvSpPr>
          <p:cNvPr id="306" name="Google Shape;306;p18"/>
          <p:cNvSpPr txBox="1"/>
          <p:nvPr>
            <p:ph idx="1" type="body"/>
          </p:nvPr>
        </p:nvSpPr>
        <p:spPr>
          <a:xfrm>
            <a:off x="75350" y="1597875"/>
            <a:ext cx="3556500" cy="28683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Conversational approach had an average  open rate of ~0.08</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
              <a:t>Alarming </a:t>
            </a:r>
            <a:r>
              <a:rPr lang="en"/>
              <a:t>approach had an higher  open rate of ~ 0.13.</a:t>
            </a:r>
            <a:endParaRPr/>
          </a:p>
          <a:p>
            <a:pPr indent="0" lvl="0" marL="457200" rtl="0" algn="l">
              <a:spcBef>
                <a:spcPts val="1200"/>
              </a:spcBef>
              <a:spcAft>
                <a:spcPts val="0"/>
              </a:spcAft>
              <a:buNone/>
            </a:pPr>
            <a:r>
              <a:t/>
            </a:r>
            <a:endParaRPr/>
          </a:p>
          <a:p>
            <a:pPr indent="-311150" lvl="0" marL="457200" rtl="0" algn="l">
              <a:spcBef>
                <a:spcPts val="1200"/>
              </a:spcBef>
              <a:spcAft>
                <a:spcPts val="0"/>
              </a:spcAft>
              <a:buSzPts val="1300"/>
              <a:buChar char="●"/>
            </a:pPr>
            <a:r>
              <a:rPr lang="en"/>
              <a:t>Alarming emails had a higher average open rate, but the performance was more variable. </a:t>
            </a:r>
            <a:endParaRPr/>
          </a:p>
        </p:txBody>
      </p:sp>
      <p:pic>
        <p:nvPicPr>
          <p:cNvPr id="307" name="Google Shape;307;p18" title="graphs1"/>
          <p:cNvPicPr preferRelativeResize="0"/>
          <p:nvPr/>
        </p:nvPicPr>
        <p:blipFill>
          <a:blip r:embed="rId3">
            <a:alphaModFix/>
          </a:blip>
          <a:stretch>
            <a:fillRect/>
          </a:stretch>
        </p:blipFill>
        <p:spPr>
          <a:xfrm>
            <a:off x="3429625" y="1390225"/>
            <a:ext cx="5768950" cy="35566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Results of Click Rate by Tone </a:t>
            </a:r>
            <a:endParaRPr sz="2600"/>
          </a:p>
        </p:txBody>
      </p:sp>
      <p:pic>
        <p:nvPicPr>
          <p:cNvPr id="313" name="Google Shape;313;p19" title="DDDD"/>
          <p:cNvPicPr preferRelativeResize="0"/>
          <p:nvPr/>
        </p:nvPicPr>
        <p:blipFill>
          <a:blip r:embed="rId3">
            <a:alphaModFix/>
          </a:blip>
          <a:stretch>
            <a:fillRect/>
          </a:stretch>
        </p:blipFill>
        <p:spPr>
          <a:xfrm>
            <a:off x="3213575" y="1357725"/>
            <a:ext cx="5768401" cy="3559950"/>
          </a:xfrm>
          <a:prstGeom prst="rect">
            <a:avLst/>
          </a:prstGeom>
          <a:noFill/>
          <a:ln>
            <a:noFill/>
          </a:ln>
        </p:spPr>
      </p:pic>
      <p:sp>
        <p:nvSpPr>
          <p:cNvPr id="314" name="Google Shape;314;p19"/>
          <p:cNvSpPr txBox="1"/>
          <p:nvPr>
            <p:ph idx="1" type="body"/>
          </p:nvPr>
        </p:nvSpPr>
        <p:spPr>
          <a:xfrm>
            <a:off x="486950" y="1704150"/>
            <a:ext cx="2604000" cy="2867100"/>
          </a:xfrm>
          <a:prstGeom prst="rect">
            <a:avLst/>
          </a:prstGeom>
        </p:spPr>
        <p:txBody>
          <a:bodyPr anchorCtr="0" anchor="t" bIns="91425" lIns="91425" spcFirstLastPara="1" rIns="91425" wrap="square" tIns="91425">
            <a:normAutofit fontScale="25000" lnSpcReduction="20000"/>
          </a:bodyPr>
          <a:lstStyle/>
          <a:p>
            <a:pPr indent="-311150" lvl="0" marL="457200" rtl="0" algn="l">
              <a:spcBef>
                <a:spcPts val="0"/>
              </a:spcBef>
              <a:spcAft>
                <a:spcPts val="0"/>
              </a:spcAft>
              <a:buSzPct val="100000"/>
              <a:buChar char="●"/>
            </a:pPr>
            <a:r>
              <a:rPr lang="en" sz="5200"/>
              <a:t>Conversational tone’s Q1 starts higher  </a:t>
            </a:r>
            <a:endParaRPr sz="5200"/>
          </a:p>
          <a:p>
            <a:pPr indent="0" lvl="0" marL="457200" rtl="0" algn="l">
              <a:spcBef>
                <a:spcPts val="1200"/>
              </a:spcBef>
              <a:spcAft>
                <a:spcPts val="0"/>
              </a:spcAft>
              <a:buNone/>
            </a:pPr>
            <a:r>
              <a:t/>
            </a:r>
            <a:endParaRPr sz="5200"/>
          </a:p>
          <a:p>
            <a:pPr indent="-311150" lvl="0" marL="457200" rtl="0" algn="l">
              <a:spcBef>
                <a:spcPts val="1200"/>
              </a:spcBef>
              <a:spcAft>
                <a:spcPts val="0"/>
              </a:spcAft>
              <a:buSzPct val="100000"/>
              <a:buChar char="●"/>
            </a:pPr>
            <a:r>
              <a:rPr lang="en" sz="5200"/>
              <a:t>Alarming tone has a higher median </a:t>
            </a:r>
            <a:endParaRPr sz="5200"/>
          </a:p>
          <a:p>
            <a:pPr indent="0" lvl="0" marL="457200" rtl="0" algn="l">
              <a:spcBef>
                <a:spcPts val="1200"/>
              </a:spcBef>
              <a:spcAft>
                <a:spcPts val="0"/>
              </a:spcAft>
              <a:buNone/>
            </a:pPr>
            <a:r>
              <a:t/>
            </a:r>
            <a:endParaRPr sz="5200"/>
          </a:p>
          <a:p>
            <a:pPr indent="-311150" lvl="0" marL="457200" rtl="0" algn="l">
              <a:spcBef>
                <a:spcPts val="1200"/>
              </a:spcBef>
              <a:spcAft>
                <a:spcPts val="0"/>
              </a:spcAft>
              <a:buSzPct val="100000"/>
              <a:buChar char="●"/>
            </a:pPr>
            <a:r>
              <a:rPr lang="en" sz="5200"/>
              <a:t>Alarming tone includes lower Q1 values </a:t>
            </a:r>
            <a:endParaRPr sz="5200"/>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0"/>
              </a:spcAft>
              <a:buNone/>
            </a:pPr>
            <a:r>
              <a:t/>
            </a:r>
            <a:endParaRPr/>
          </a:p>
          <a:p>
            <a:pPr indent="0" lvl="0" marL="45720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20"/>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Average rate of open to clicks based on tone </a:t>
            </a:r>
            <a:endParaRPr/>
          </a:p>
        </p:txBody>
      </p:sp>
      <p:pic>
        <p:nvPicPr>
          <p:cNvPr id="320" name="Google Shape;320;p20" title="DDDD3"/>
          <p:cNvPicPr preferRelativeResize="0"/>
          <p:nvPr/>
        </p:nvPicPr>
        <p:blipFill>
          <a:blip r:embed="rId3">
            <a:alphaModFix/>
          </a:blip>
          <a:stretch>
            <a:fillRect/>
          </a:stretch>
        </p:blipFill>
        <p:spPr>
          <a:xfrm>
            <a:off x="3295550" y="1299313"/>
            <a:ext cx="5578976" cy="3443025"/>
          </a:xfrm>
          <a:prstGeom prst="rect">
            <a:avLst/>
          </a:prstGeom>
          <a:noFill/>
          <a:ln>
            <a:noFill/>
          </a:ln>
        </p:spPr>
      </p:pic>
      <p:sp>
        <p:nvSpPr>
          <p:cNvPr id="321" name="Google Shape;321;p20"/>
          <p:cNvSpPr txBox="1"/>
          <p:nvPr>
            <p:ph idx="1" type="body"/>
          </p:nvPr>
        </p:nvSpPr>
        <p:spPr>
          <a:xfrm>
            <a:off x="502625" y="1697175"/>
            <a:ext cx="2847900" cy="28077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a:t>
            </a:r>
            <a:r>
              <a:rPr lang="en"/>
              <a:t>onversational tone had an avg. open to click rate of ~0.6</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The alarming tone had a avg open rate of  ~0.35</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Conversational tone had a higher open to click rate ratio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Unsubscribe Rate by Tone</a:t>
            </a:r>
            <a:endParaRPr/>
          </a:p>
        </p:txBody>
      </p:sp>
      <p:pic>
        <p:nvPicPr>
          <p:cNvPr id="327" name="Google Shape;327;p21"/>
          <p:cNvPicPr preferRelativeResize="0"/>
          <p:nvPr/>
        </p:nvPicPr>
        <p:blipFill>
          <a:blip r:embed="rId3">
            <a:alphaModFix/>
          </a:blip>
          <a:stretch>
            <a:fillRect/>
          </a:stretch>
        </p:blipFill>
        <p:spPr>
          <a:xfrm>
            <a:off x="3282701" y="1471713"/>
            <a:ext cx="5696124" cy="3519376"/>
          </a:xfrm>
          <a:prstGeom prst="rect">
            <a:avLst/>
          </a:prstGeom>
          <a:noFill/>
          <a:ln>
            <a:noFill/>
          </a:ln>
        </p:spPr>
      </p:pic>
      <p:sp>
        <p:nvSpPr>
          <p:cNvPr id="328" name="Google Shape;328;p21"/>
          <p:cNvSpPr txBox="1"/>
          <p:nvPr>
            <p:ph idx="1" type="body"/>
          </p:nvPr>
        </p:nvSpPr>
        <p:spPr>
          <a:xfrm>
            <a:off x="-122875" y="1960600"/>
            <a:ext cx="3493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Alarming promoted </a:t>
            </a:r>
            <a:r>
              <a:rPr lang="en"/>
              <a:t>unsubscribing.</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Results were statistically significant.</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Conversational recommended to retain more subscribers.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2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Order Rate by Tone</a:t>
            </a:r>
            <a:endParaRPr/>
          </a:p>
        </p:txBody>
      </p:sp>
      <p:pic>
        <p:nvPicPr>
          <p:cNvPr id="334" name="Google Shape;334;p22"/>
          <p:cNvPicPr preferRelativeResize="0"/>
          <p:nvPr/>
        </p:nvPicPr>
        <p:blipFill>
          <a:blip r:embed="rId3">
            <a:alphaModFix/>
          </a:blip>
          <a:stretch>
            <a:fillRect/>
          </a:stretch>
        </p:blipFill>
        <p:spPr>
          <a:xfrm>
            <a:off x="3309050" y="1448250"/>
            <a:ext cx="5459125" cy="3534074"/>
          </a:xfrm>
          <a:prstGeom prst="rect">
            <a:avLst/>
          </a:prstGeom>
          <a:noFill/>
          <a:ln>
            <a:noFill/>
          </a:ln>
        </p:spPr>
      </p:pic>
      <p:sp>
        <p:nvSpPr>
          <p:cNvPr id="335" name="Google Shape;335;p22"/>
          <p:cNvSpPr txBox="1"/>
          <p:nvPr>
            <p:ph idx="1" type="body"/>
          </p:nvPr>
        </p:nvSpPr>
        <p:spPr>
          <a:xfrm>
            <a:off x="-122875" y="1960600"/>
            <a:ext cx="3493500" cy="2541600"/>
          </a:xfrm>
          <a:prstGeom prst="rect">
            <a:avLst/>
          </a:prstGeom>
        </p:spPr>
        <p:txBody>
          <a:bodyPr anchorCtr="0" anchor="t" bIns="91425" lIns="91425" spcFirstLastPara="1" rIns="91425" wrap="square" tIns="91425">
            <a:normAutofit/>
          </a:bodyPr>
          <a:lstStyle/>
          <a:p>
            <a:pPr indent="-311150" lvl="0" marL="457200" rtl="0" algn="l">
              <a:spcBef>
                <a:spcPts val="0"/>
              </a:spcBef>
              <a:spcAft>
                <a:spcPts val="0"/>
              </a:spcAft>
              <a:buSzPts val="1300"/>
              <a:buChar char="-"/>
            </a:pPr>
            <a:r>
              <a:rPr lang="en"/>
              <a:t>Conversational has greater order rate.</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Results were statistically significant.</a:t>
            </a:r>
            <a:endParaRPr/>
          </a:p>
          <a:p>
            <a:pPr indent="0" lvl="0" marL="0" rtl="0" algn="l">
              <a:spcBef>
                <a:spcPts val="1200"/>
              </a:spcBef>
              <a:spcAft>
                <a:spcPts val="0"/>
              </a:spcAft>
              <a:buNone/>
            </a:pPr>
            <a:r>
              <a:t/>
            </a:r>
            <a:endParaRPr/>
          </a:p>
          <a:p>
            <a:pPr indent="-311150" lvl="0" marL="457200" rtl="0" algn="l">
              <a:spcBef>
                <a:spcPts val="1200"/>
              </a:spcBef>
              <a:spcAft>
                <a:spcPts val="0"/>
              </a:spcAft>
              <a:buSzPts val="1300"/>
              <a:buChar char="-"/>
            </a:pPr>
            <a:r>
              <a:rPr lang="en"/>
              <a:t>Conversational recommended to increase order rate.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Sales by Tone</a:t>
            </a:r>
            <a:endParaRPr/>
          </a:p>
        </p:txBody>
      </p:sp>
      <p:pic>
        <p:nvPicPr>
          <p:cNvPr id="341" name="Google Shape;341;p23"/>
          <p:cNvPicPr preferRelativeResize="0"/>
          <p:nvPr/>
        </p:nvPicPr>
        <p:blipFill>
          <a:blip r:embed="rId3">
            <a:alphaModFix/>
          </a:blip>
          <a:stretch>
            <a:fillRect/>
          </a:stretch>
        </p:blipFill>
        <p:spPr>
          <a:xfrm>
            <a:off x="4371175" y="0"/>
            <a:ext cx="4113571" cy="2541599"/>
          </a:xfrm>
          <a:prstGeom prst="rect">
            <a:avLst/>
          </a:prstGeom>
          <a:noFill/>
          <a:ln>
            <a:noFill/>
          </a:ln>
        </p:spPr>
      </p:pic>
      <p:pic>
        <p:nvPicPr>
          <p:cNvPr id="342" name="Google Shape;342;p23"/>
          <p:cNvPicPr preferRelativeResize="0"/>
          <p:nvPr/>
        </p:nvPicPr>
        <p:blipFill>
          <a:blip r:embed="rId4">
            <a:alphaModFix/>
          </a:blip>
          <a:stretch>
            <a:fillRect/>
          </a:stretch>
        </p:blipFill>
        <p:spPr>
          <a:xfrm>
            <a:off x="4371175" y="2541600"/>
            <a:ext cx="4243901" cy="2618450"/>
          </a:xfrm>
          <a:prstGeom prst="rect">
            <a:avLst/>
          </a:prstGeom>
          <a:noFill/>
          <a:ln>
            <a:noFill/>
          </a:ln>
        </p:spPr>
      </p:pic>
      <p:sp>
        <p:nvSpPr>
          <p:cNvPr id="343" name="Google Shape;343;p23"/>
          <p:cNvSpPr txBox="1"/>
          <p:nvPr>
            <p:ph idx="1" type="body"/>
          </p:nvPr>
        </p:nvSpPr>
        <p:spPr>
          <a:xfrm>
            <a:off x="-157975" y="1773025"/>
            <a:ext cx="4871400" cy="3195000"/>
          </a:xfrm>
          <a:prstGeom prst="rect">
            <a:avLst/>
          </a:prstGeom>
        </p:spPr>
        <p:txBody>
          <a:bodyPr anchorCtr="0" anchor="t" bIns="91425" lIns="91425" spcFirstLastPara="1" rIns="91425" wrap="square" tIns="91425">
            <a:normAutofit fontScale="85000" lnSpcReduction="20000"/>
          </a:bodyPr>
          <a:lstStyle/>
          <a:p>
            <a:pPr indent="-298767" lvl="0" marL="457200" rtl="0" algn="l">
              <a:spcBef>
                <a:spcPts val="0"/>
              </a:spcBef>
              <a:spcAft>
                <a:spcPts val="0"/>
              </a:spcAft>
              <a:buSzPct val="100000"/>
              <a:buChar char="-"/>
            </a:pPr>
            <a:r>
              <a:rPr lang="en"/>
              <a:t>Conversational has greater total sales.</a:t>
            </a:r>
            <a:endParaRPr/>
          </a:p>
          <a:p>
            <a:pPr indent="0" lvl="0" marL="0" rtl="0" algn="l">
              <a:spcBef>
                <a:spcPts val="1200"/>
              </a:spcBef>
              <a:spcAft>
                <a:spcPts val="0"/>
              </a:spcAft>
              <a:buNone/>
            </a:pPr>
            <a:r>
              <a:t/>
            </a:r>
            <a:endParaRPr/>
          </a:p>
          <a:p>
            <a:pPr indent="-298767" lvl="0" marL="457200" rtl="0" algn="l">
              <a:spcBef>
                <a:spcPts val="1200"/>
              </a:spcBef>
              <a:spcAft>
                <a:spcPts val="0"/>
              </a:spcAft>
              <a:buSzPct val="100000"/>
              <a:buChar char="-"/>
            </a:pPr>
            <a:r>
              <a:rPr lang="en"/>
              <a:t>Alarming has greater average sales per order.</a:t>
            </a:r>
            <a:endParaRPr/>
          </a:p>
          <a:p>
            <a:pPr indent="0" lvl="0" marL="0" rtl="0" algn="l">
              <a:spcBef>
                <a:spcPts val="1200"/>
              </a:spcBef>
              <a:spcAft>
                <a:spcPts val="0"/>
              </a:spcAft>
              <a:buNone/>
            </a:pPr>
            <a:r>
              <a:t/>
            </a:r>
            <a:endParaRPr/>
          </a:p>
          <a:p>
            <a:pPr indent="-298767" lvl="0" marL="457200" rtl="0" algn="l">
              <a:spcBef>
                <a:spcPts val="1200"/>
              </a:spcBef>
              <a:spcAft>
                <a:spcPts val="0"/>
              </a:spcAft>
              <a:buSzPct val="100000"/>
              <a:buChar char="-"/>
            </a:pPr>
            <a:r>
              <a:rPr lang="en"/>
              <a:t>Average sales per order by tone failed to reject null hypothesis.          (P-value = 20%)</a:t>
            </a:r>
            <a:endParaRPr/>
          </a:p>
          <a:p>
            <a:pPr indent="0" lvl="0" marL="0" rtl="0" algn="l">
              <a:spcBef>
                <a:spcPts val="1200"/>
              </a:spcBef>
              <a:spcAft>
                <a:spcPts val="0"/>
              </a:spcAft>
              <a:buNone/>
            </a:pPr>
            <a:r>
              <a:t/>
            </a:r>
            <a:endParaRPr/>
          </a:p>
          <a:p>
            <a:pPr indent="-298767" lvl="0" marL="457200" rtl="0" algn="l">
              <a:spcBef>
                <a:spcPts val="1200"/>
              </a:spcBef>
              <a:spcAft>
                <a:spcPts val="0"/>
              </a:spcAft>
              <a:buSzPct val="100000"/>
              <a:buChar char="-"/>
            </a:pPr>
            <a:r>
              <a:rPr lang="en"/>
              <a:t>Total orders = 42, Conversational = 28, Alarming = 14.</a:t>
            </a:r>
            <a:endParaRPr/>
          </a:p>
          <a:p>
            <a:pPr indent="0" lvl="0" marL="0" rtl="0" algn="l">
              <a:spcBef>
                <a:spcPts val="1200"/>
              </a:spcBef>
              <a:spcAft>
                <a:spcPts val="0"/>
              </a:spcAft>
              <a:buNone/>
            </a:pPr>
            <a:r>
              <a:t/>
            </a:r>
            <a:endParaRPr/>
          </a:p>
          <a:p>
            <a:pPr indent="-298767" lvl="0" marL="457200" rtl="0" algn="l">
              <a:spcBef>
                <a:spcPts val="1200"/>
              </a:spcBef>
              <a:spcAft>
                <a:spcPts val="0"/>
              </a:spcAft>
              <a:buSzPct val="100000"/>
              <a:buChar char="-"/>
            </a:pPr>
            <a:r>
              <a:rPr lang="en"/>
              <a:t>Conversational</a:t>
            </a:r>
            <a:r>
              <a:rPr lang="en"/>
              <a:t> recommended for greater number of orders and sum of sales.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p24"/>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How did day of the week affect engagement?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2" name="Shape 352"/>
        <p:cNvGrpSpPr/>
        <p:nvPr/>
      </p:nvGrpSpPr>
      <p:grpSpPr>
        <a:xfrm>
          <a:off x="0" y="0"/>
          <a:ext cx="0" cy="0"/>
          <a:chOff x="0" y="0"/>
          <a:chExt cx="0" cy="0"/>
        </a:xfrm>
      </p:grpSpPr>
      <p:sp>
        <p:nvSpPr>
          <p:cNvPr id="353" name="Google Shape;353;p25"/>
          <p:cNvSpPr txBox="1"/>
          <p:nvPr>
            <p:ph type="title"/>
          </p:nvPr>
        </p:nvSpPr>
        <p:spPr>
          <a:xfrm>
            <a:off x="1303800" y="598575"/>
            <a:ext cx="7030500" cy="691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0" lang="en" sz="2200">
                <a:latin typeface="Maven Pro SemiBold"/>
                <a:ea typeface="Maven Pro SemiBold"/>
                <a:cs typeface="Maven Pro SemiBold"/>
                <a:sym typeface="Maven Pro SemiBold"/>
              </a:rPr>
              <a:t>Mondays = </a:t>
            </a:r>
            <a:r>
              <a:rPr b="0" lang="en" sz="2200">
                <a:latin typeface="Maven Pro SemiBold"/>
                <a:ea typeface="Maven Pro SemiBold"/>
                <a:cs typeface="Maven Pro SemiBold"/>
                <a:sym typeface="Maven Pro SemiBold"/>
              </a:rPr>
              <a:t>Engagement</a:t>
            </a:r>
            <a:endParaRPr/>
          </a:p>
        </p:txBody>
      </p:sp>
      <p:sp>
        <p:nvSpPr>
          <p:cNvPr id="354" name="Google Shape;354;p25"/>
          <p:cNvSpPr txBox="1"/>
          <p:nvPr>
            <p:ph idx="1" type="body"/>
          </p:nvPr>
        </p:nvSpPr>
        <p:spPr>
          <a:xfrm>
            <a:off x="227325" y="1754800"/>
            <a:ext cx="3957900" cy="321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sz="1600"/>
              <a:t>When an email is sent on a Monday, it has almost double the chance to be opened.</a:t>
            </a:r>
            <a:endParaRPr sz="1600"/>
          </a:p>
          <a:p>
            <a:pPr indent="0" lvl="0" marL="457200" rtl="0" algn="l">
              <a:spcBef>
                <a:spcPts val="0"/>
              </a:spcBef>
              <a:spcAft>
                <a:spcPts val="0"/>
              </a:spcAft>
              <a:buNone/>
            </a:pPr>
            <a:r>
              <a:t/>
            </a:r>
            <a:endParaRPr sz="1600"/>
          </a:p>
          <a:p>
            <a:pPr indent="-330200" lvl="0" marL="457200" rtl="0" algn="l">
              <a:spcBef>
                <a:spcPts val="1200"/>
              </a:spcBef>
              <a:spcAft>
                <a:spcPts val="0"/>
              </a:spcAft>
              <a:buSzPts val="1600"/>
              <a:buChar char="●"/>
            </a:pPr>
            <a:r>
              <a:rPr lang="en" sz="1600"/>
              <a:t>Although Monday has a higher variance in its open rate, it is still the clear leader above Wednesday and Friday</a:t>
            </a:r>
            <a:endParaRPr sz="1600"/>
          </a:p>
        </p:txBody>
      </p:sp>
      <p:pic>
        <p:nvPicPr>
          <p:cNvPr id="355" name="Google Shape;355;p25" title="Average Open Rate by Day of Week.png"/>
          <p:cNvPicPr preferRelativeResize="0"/>
          <p:nvPr/>
        </p:nvPicPr>
        <p:blipFill>
          <a:blip r:embed="rId3">
            <a:alphaModFix/>
          </a:blip>
          <a:stretch>
            <a:fillRect/>
          </a:stretch>
        </p:blipFill>
        <p:spPr>
          <a:xfrm>
            <a:off x="4429450" y="1527975"/>
            <a:ext cx="4210075" cy="25982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9" name="Shape 359"/>
        <p:cNvGrpSpPr/>
        <p:nvPr/>
      </p:nvGrpSpPr>
      <p:grpSpPr>
        <a:xfrm>
          <a:off x="0" y="0"/>
          <a:ext cx="0" cy="0"/>
          <a:chOff x="0" y="0"/>
          <a:chExt cx="0" cy="0"/>
        </a:xfrm>
      </p:grpSpPr>
      <p:sp>
        <p:nvSpPr>
          <p:cNvPr id="360" name="Google Shape;360;p26"/>
          <p:cNvSpPr txBox="1"/>
          <p:nvPr>
            <p:ph type="title"/>
          </p:nvPr>
        </p:nvSpPr>
        <p:spPr>
          <a:xfrm>
            <a:off x="1311825" y="382975"/>
            <a:ext cx="40470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b="0" lang="en" sz="2200">
                <a:latin typeface="Maven Pro SemiBold"/>
                <a:ea typeface="Maven Pro SemiBold"/>
                <a:cs typeface="Maven Pro SemiBold"/>
                <a:sym typeface="Maven Pro SemiBold"/>
              </a:rPr>
              <a:t>Day of Week: Click Rate</a:t>
            </a:r>
            <a:endParaRPr b="0" sz="2200">
              <a:latin typeface="Maven Pro SemiBold"/>
              <a:ea typeface="Maven Pro SemiBold"/>
              <a:cs typeface="Maven Pro SemiBold"/>
              <a:sym typeface="Maven Pro SemiBold"/>
            </a:endParaRPr>
          </a:p>
          <a:p>
            <a:pPr indent="0" lvl="0" marL="0" rtl="0" algn="l">
              <a:spcBef>
                <a:spcPts val="0"/>
              </a:spcBef>
              <a:spcAft>
                <a:spcPts val="0"/>
              </a:spcAft>
              <a:buNone/>
            </a:pPr>
            <a:r>
              <a:rPr b="0" lang="en" sz="2200">
                <a:latin typeface="Maven Pro SemiBold"/>
                <a:ea typeface="Maven Pro SemiBold"/>
                <a:cs typeface="Maven Pro SemiBold"/>
                <a:sym typeface="Maven Pro SemiBold"/>
              </a:rPr>
              <a:t>Consistency &amp; Click to Open Rate</a:t>
            </a:r>
            <a:endParaRPr/>
          </a:p>
        </p:txBody>
      </p:sp>
      <p:pic>
        <p:nvPicPr>
          <p:cNvPr id="361" name="Google Shape;361;p26" title="Click Rate Distribution by Day of Week.png"/>
          <p:cNvPicPr preferRelativeResize="0"/>
          <p:nvPr/>
        </p:nvPicPr>
        <p:blipFill>
          <a:blip r:embed="rId3">
            <a:alphaModFix/>
          </a:blip>
          <a:stretch>
            <a:fillRect/>
          </a:stretch>
        </p:blipFill>
        <p:spPr>
          <a:xfrm>
            <a:off x="5080825" y="354375"/>
            <a:ext cx="3723024" cy="2297635"/>
          </a:xfrm>
          <a:prstGeom prst="rect">
            <a:avLst/>
          </a:prstGeom>
          <a:noFill/>
          <a:ln>
            <a:noFill/>
          </a:ln>
        </p:spPr>
      </p:pic>
      <p:pic>
        <p:nvPicPr>
          <p:cNvPr id="362" name="Google Shape;362;p26" title="Average Open to Click Rate by Day of Week.png"/>
          <p:cNvPicPr preferRelativeResize="0"/>
          <p:nvPr/>
        </p:nvPicPr>
        <p:blipFill>
          <a:blip r:embed="rId4">
            <a:alphaModFix/>
          </a:blip>
          <a:stretch>
            <a:fillRect/>
          </a:stretch>
        </p:blipFill>
        <p:spPr>
          <a:xfrm>
            <a:off x="5080825" y="2652010"/>
            <a:ext cx="3723024" cy="2297640"/>
          </a:xfrm>
          <a:prstGeom prst="rect">
            <a:avLst/>
          </a:prstGeom>
          <a:noFill/>
          <a:ln>
            <a:noFill/>
          </a:ln>
        </p:spPr>
      </p:pic>
      <p:sp>
        <p:nvSpPr>
          <p:cNvPr id="363" name="Google Shape;363;p26"/>
          <p:cNvSpPr txBox="1"/>
          <p:nvPr/>
        </p:nvSpPr>
        <p:spPr>
          <a:xfrm>
            <a:off x="275425" y="1919050"/>
            <a:ext cx="4562700" cy="25527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Clr>
                <a:schemeClr val="dk2"/>
              </a:buClr>
              <a:buSzPts val="1700"/>
              <a:buFont typeface="Nunito"/>
              <a:buChar char="●"/>
            </a:pPr>
            <a:r>
              <a:rPr lang="en" sz="1700">
                <a:solidFill>
                  <a:schemeClr val="dk2"/>
                </a:solidFill>
                <a:latin typeface="Nunito"/>
                <a:ea typeface="Nunito"/>
                <a:cs typeface="Nunito"/>
                <a:sym typeface="Nunito"/>
              </a:rPr>
              <a:t>The median click rate is roughly the same across all days.</a:t>
            </a:r>
            <a:endParaRPr sz="1700">
              <a:solidFill>
                <a:schemeClr val="dk2"/>
              </a:solidFill>
              <a:latin typeface="Nunito"/>
              <a:ea typeface="Nunito"/>
              <a:cs typeface="Nunito"/>
              <a:sym typeface="Nunito"/>
            </a:endParaRPr>
          </a:p>
          <a:p>
            <a:pPr indent="-336550" lvl="0" marL="457200" rtl="0" algn="l">
              <a:lnSpc>
                <a:spcPct val="115000"/>
              </a:lnSpc>
              <a:spcBef>
                <a:spcPts val="0"/>
              </a:spcBef>
              <a:spcAft>
                <a:spcPts val="0"/>
              </a:spcAft>
              <a:buClr>
                <a:schemeClr val="dk2"/>
              </a:buClr>
              <a:buSzPts val="1700"/>
              <a:buFont typeface="Nunito"/>
              <a:buChar char="●"/>
            </a:pPr>
            <a:r>
              <a:rPr lang="en" sz="1700">
                <a:solidFill>
                  <a:schemeClr val="dk2"/>
                </a:solidFill>
                <a:latin typeface="Nunito"/>
                <a:ea typeface="Nunito"/>
                <a:cs typeface="Nunito"/>
                <a:sym typeface="Nunito"/>
              </a:rPr>
              <a:t>Once a customer opens an email, they are just as likely to click on the email’s contents, regardless of the day.</a:t>
            </a:r>
            <a:endParaRPr sz="1700">
              <a:solidFill>
                <a:schemeClr val="dk2"/>
              </a:solidFill>
              <a:latin typeface="Nunito"/>
              <a:ea typeface="Nunito"/>
              <a:cs typeface="Nunito"/>
              <a:sym typeface="Nunito"/>
            </a:endParaRPr>
          </a:p>
          <a:p>
            <a:pPr indent="-336550" lvl="0" marL="457200" rtl="0" algn="l">
              <a:lnSpc>
                <a:spcPct val="115000"/>
              </a:lnSpc>
              <a:spcBef>
                <a:spcPts val="0"/>
              </a:spcBef>
              <a:spcAft>
                <a:spcPts val="0"/>
              </a:spcAft>
              <a:buClr>
                <a:schemeClr val="dk2"/>
              </a:buClr>
              <a:buSzPts val="1700"/>
              <a:buFont typeface="Nunito"/>
              <a:buChar char="●"/>
            </a:pPr>
            <a:r>
              <a:rPr lang="en" sz="1700">
                <a:solidFill>
                  <a:schemeClr val="dk2"/>
                </a:solidFill>
                <a:latin typeface="Nunito"/>
                <a:ea typeface="Nunito"/>
                <a:cs typeface="Nunito"/>
                <a:sym typeface="Nunito"/>
              </a:rPr>
              <a:t>Since 50% is a high Click to Open Rate, our main goal should be that the user is opening the email.</a:t>
            </a:r>
            <a:endParaRPr sz="1700">
              <a:solidFill>
                <a:schemeClr val="dk2"/>
              </a:solidFill>
              <a:latin typeface="Nunito"/>
              <a:ea typeface="Nunito"/>
              <a:cs typeface="Nunito"/>
              <a:sym typeface="Nuni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Unsubscribe Rate by Day of Week</a:t>
            </a:r>
            <a:endParaRPr/>
          </a:p>
        </p:txBody>
      </p:sp>
      <p:sp>
        <p:nvSpPr>
          <p:cNvPr id="369" name="Google Shape;369;p27"/>
          <p:cNvSpPr txBox="1"/>
          <p:nvPr>
            <p:ph idx="1" type="body"/>
          </p:nvPr>
        </p:nvSpPr>
        <p:spPr>
          <a:xfrm>
            <a:off x="502625" y="1963350"/>
            <a:ext cx="3418800" cy="25416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en"/>
              <a:t>Although Wednesday shows a higher unsubscribe rate visually, the ANOVA test indicates that </a:t>
            </a:r>
            <a:r>
              <a:rPr lang="en"/>
              <a:t>there's</a:t>
            </a:r>
            <a:r>
              <a:rPr lang="en"/>
              <a:t> no statistical significant different between days by p = 0.538.</a:t>
            </a:r>
            <a:endParaRPr/>
          </a:p>
          <a:p>
            <a:pPr indent="0" lvl="0" marL="0" rtl="0" algn="l">
              <a:spcBef>
                <a:spcPts val="1200"/>
              </a:spcBef>
              <a:spcAft>
                <a:spcPts val="0"/>
              </a:spcAft>
              <a:buNone/>
            </a:pPr>
            <a:r>
              <a:rPr lang="en"/>
              <a:t>This would mean that the variation in unsubscribe rate across the days could be attributed to random fluctuation rather than timing.</a:t>
            </a:r>
            <a:endParaRPr/>
          </a:p>
          <a:p>
            <a:pPr indent="0" lvl="0" marL="0" rtl="0" algn="l">
              <a:spcBef>
                <a:spcPts val="1200"/>
              </a:spcBef>
              <a:spcAft>
                <a:spcPts val="1200"/>
              </a:spcAft>
              <a:buNone/>
            </a:pPr>
            <a:r>
              <a:rPr lang="en"/>
              <a:t>The business takeaway would be that the send date doesn’t meaningfully impact unsubscribe behavior.</a:t>
            </a:r>
            <a:endParaRPr/>
          </a:p>
        </p:txBody>
      </p:sp>
      <p:pic>
        <p:nvPicPr>
          <p:cNvPr id="370" name="Google Shape;370;p27"/>
          <p:cNvPicPr preferRelativeResize="0"/>
          <p:nvPr/>
        </p:nvPicPr>
        <p:blipFill>
          <a:blip r:embed="rId3">
            <a:alphaModFix/>
          </a:blip>
          <a:stretch>
            <a:fillRect/>
          </a:stretch>
        </p:blipFill>
        <p:spPr>
          <a:xfrm>
            <a:off x="4073825" y="1750275"/>
            <a:ext cx="4917775" cy="303856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4" name="Shape 374"/>
        <p:cNvGrpSpPr/>
        <p:nvPr/>
      </p:nvGrpSpPr>
      <p:grpSpPr>
        <a:xfrm>
          <a:off x="0" y="0"/>
          <a:ext cx="0" cy="0"/>
          <a:chOff x="0" y="0"/>
          <a:chExt cx="0" cy="0"/>
        </a:xfrm>
      </p:grpSpPr>
      <p:sp>
        <p:nvSpPr>
          <p:cNvPr id="375" name="Google Shape;375;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Order Rate by Day of Week</a:t>
            </a:r>
            <a:endParaRPr/>
          </a:p>
        </p:txBody>
      </p:sp>
      <p:sp>
        <p:nvSpPr>
          <p:cNvPr id="376" name="Google Shape;376;p28"/>
          <p:cNvSpPr txBox="1"/>
          <p:nvPr>
            <p:ph idx="1" type="body"/>
          </p:nvPr>
        </p:nvSpPr>
        <p:spPr>
          <a:xfrm>
            <a:off x="502625" y="1963350"/>
            <a:ext cx="35130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While Wednesday appears to have a slightly higher order rate, the ANOVA test shows no statistical different across days by p = 0.503. </a:t>
            </a:r>
            <a:endParaRPr/>
          </a:p>
          <a:p>
            <a:pPr indent="0" lvl="0" marL="0" rtl="0" algn="l">
              <a:spcBef>
                <a:spcPts val="1200"/>
              </a:spcBef>
              <a:spcAft>
                <a:spcPts val="0"/>
              </a:spcAft>
              <a:buNone/>
            </a:pPr>
            <a:r>
              <a:rPr lang="en"/>
              <a:t>The observed differences cannot be large enough to lead to the conclusion that the send dates drives or </a:t>
            </a:r>
            <a:r>
              <a:rPr lang="en"/>
              <a:t>influences</a:t>
            </a:r>
            <a:r>
              <a:rPr lang="en"/>
              <a:t> ordering behavior.</a:t>
            </a:r>
            <a:endParaRPr/>
          </a:p>
          <a:p>
            <a:pPr indent="0" lvl="0" marL="0" rtl="0" algn="l">
              <a:spcBef>
                <a:spcPts val="1200"/>
              </a:spcBef>
              <a:spcAft>
                <a:spcPts val="1200"/>
              </a:spcAft>
              <a:buNone/>
            </a:pPr>
            <a:r>
              <a:rPr lang="en"/>
              <a:t>The business takeaway would be that order performance is stable across the days of the week.</a:t>
            </a:r>
            <a:endParaRPr/>
          </a:p>
        </p:txBody>
      </p:sp>
      <p:pic>
        <p:nvPicPr>
          <p:cNvPr id="377" name="Google Shape;377;p28"/>
          <p:cNvPicPr preferRelativeResize="0"/>
          <p:nvPr/>
        </p:nvPicPr>
        <p:blipFill>
          <a:blip r:embed="rId3">
            <a:alphaModFix/>
          </a:blip>
          <a:stretch>
            <a:fillRect/>
          </a:stretch>
        </p:blipFill>
        <p:spPr>
          <a:xfrm>
            <a:off x="4168025" y="1750275"/>
            <a:ext cx="4823576" cy="298036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29"/>
          <p:cNvSpPr txBox="1"/>
          <p:nvPr>
            <p:ph type="title"/>
          </p:nvPr>
        </p:nvSpPr>
        <p:spPr>
          <a:xfrm>
            <a:off x="1303800" y="598575"/>
            <a:ext cx="7030500" cy="999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Average Sales Amount by Day of Week</a:t>
            </a:r>
            <a:endParaRPr/>
          </a:p>
          <a:p>
            <a:pPr indent="0" lvl="0" marL="0" rtl="0" algn="l">
              <a:spcBef>
                <a:spcPts val="0"/>
              </a:spcBef>
              <a:spcAft>
                <a:spcPts val="0"/>
              </a:spcAft>
              <a:buNone/>
            </a:pPr>
            <a:r>
              <a:rPr lang="en"/>
              <a:t>(March - June 2004)</a:t>
            </a:r>
            <a:endParaRPr/>
          </a:p>
        </p:txBody>
      </p:sp>
      <p:sp>
        <p:nvSpPr>
          <p:cNvPr id="383" name="Google Shape;383;p29"/>
          <p:cNvSpPr txBox="1"/>
          <p:nvPr>
            <p:ph idx="1" type="body"/>
          </p:nvPr>
        </p:nvSpPr>
        <p:spPr>
          <a:xfrm>
            <a:off x="502625" y="1963350"/>
            <a:ext cx="35430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n"/>
              <a:t>The ANOVA test when used for average sales amount by days of the week, we find that there is no statistical </a:t>
            </a:r>
            <a:r>
              <a:rPr lang="en"/>
              <a:t>difference</a:t>
            </a:r>
            <a:r>
              <a:rPr lang="en"/>
              <a:t> in average sales by day of week by context of p = 0.859.</a:t>
            </a:r>
            <a:endParaRPr/>
          </a:p>
          <a:p>
            <a:pPr indent="0" lvl="0" marL="0" rtl="0" algn="l">
              <a:spcBef>
                <a:spcPts val="1200"/>
              </a:spcBef>
              <a:spcAft>
                <a:spcPts val="0"/>
              </a:spcAft>
              <a:buNone/>
            </a:pPr>
            <a:r>
              <a:rPr lang="en"/>
              <a:t>And yes, visually Friday shows the highest average sales, this difference does not hold any statistical meaning.</a:t>
            </a:r>
            <a:endParaRPr/>
          </a:p>
          <a:p>
            <a:pPr indent="0" lvl="0" marL="0" rtl="0" algn="l">
              <a:spcBef>
                <a:spcPts val="1200"/>
              </a:spcBef>
              <a:spcAft>
                <a:spcPts val="1200"/>
              </a:spcAft>
              <a:buNone/>
            </a:pPr>
            <a:r>
              <a:rPr lang="en"/>
              <a:t>The business takeaway would be that sales revenue has no dependence on send dates.</a:t>
            </a:r>
            <a:endParaRPr/>
          </a:p>
        </p:txBody>
      </p:sp>
      <p:pic>
        <p:nvPicPr>
          <p:cNvPr id="384" name="Google Shape;384;p29"/>
          <p:cNvPicPr preferRelativeResize="0"/>
          <p:nvPr/>
        </p:nvPicPr>
        <p:blipFill>
          <a:blip r:embed="rId3">
            <a:alphaModFix/>
          </a:blip>
          <a:stretch>
            <a:fillRect/>
          </a:stretch>
        </p:blipFill>
        <p:spPr>
          <a:xfrm>
            <a:off x="4198025" y="1750275"/>
            <a:ext cx="4793576" cy="2961824"/>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30"/>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Key takeaways and recommendations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Findings </a:t>
            </a:r>
            <a:endParaRPr/>
          </a:p>
        </p:txBody>
      </p:sp>
      <p:sp>
        <p:nvSpPr>
          <p:cNvPr id="395" name="Google Shape;395;p31"/>
          <p:cNvSpPr txBox="1"/>
          <p:nvPr/>
        </p:nvSpPr>
        <p:spPr>
          <a:xfrm>
            <a:off x="499225" y="1496525"/>
            <a:ext cx="7474800" cy="3307800"/>
          </a:xfrm>
          <a:prstGeom prst="rect">
            <a:avLst/>
          </a:prstGeom>
          <a:noFill/>
          <a:ln>
            <a:noFill/>
          </a:ln>
        </p:spPr>
        <p:txBody>
          <a:bodyPr anchorCtr="0" anchor="t" bIns="91425" lIns="91425" spcFirstLastPara="1" rIns="91425" wrap="square" tIns="91425">
            <a:noAutofit/>
          </a:bodyPr>
          <a:lstStyle/>
          <a:p>
            <a:pPr indent="-318409" lvl="0" marL="457200" rtl="0" algn="l">
              <a:lnSpc>
                <a:spcPct val="115000"/>
              </a:lnSpc>
              <a:spcBef>
                <a:spcPts val="0"/>
              </a:spcBef>
              <a:spcAft>
                <a:spcPts val="0"/>
              </a:spcAft>
              <a:buClr>
                <a:schemeClr val="dk2"/>
              </a:buClr>
              <a:buSzPts val="1414"/>
              <a:buFont typeface="Nunito"/>
              <a:buChar char="-"/>
            </a:pPr>
            <a:r>
              <a:rPr lang="en" sz="1414">
                <a:solidFill>
                  <a:schemeClr val="dk2"/>
                </a:solidFill>
                <a:latin typeface="Nunito"/>
                <a:ea typeface="Nunito"/>
                <a:cs typeface="Nunito"/>
                <a:sym typeface="Nunito"/>
              </a:rPr>
              <a:t>Although the alarming tone showed a higher average open rate, the conversational approach achieved stronger engagement in click rate and open to click rate.</a:t>
            </a:r>
            <a:endParaRPr sz="1414">
              <a:solidFill>
                <a:schemeClr val="dk2"/>
              </a:solidFill>
              <a:latin typeface="Nunito"/>
              <a:ea typeface="Nunito"/>
              <a:cs typeface="Nunito"/>
              <a:sym typeface="Nunito"/>
            </a:endParaRPr>
          </a:p>
          <a:p>
            <a:pPr indent="-318409" lvl="0" marL="457200" rtl="0" algn="l">
              <a:lnSpc>
                <a:spcPct val="115000"/>
              </a:lnSpc>
              <a:spcBef>
                <a:spcPts val="0"/>
              </a:spcBef>
              <a:spcAft>
                <a:spcPts val="0"/>
              </a:spcAft>
              <a:buClr>
                <a:schemeClr val="dk2"/>
              </a:buClr>
              <a:buSzPts val="1414"/>
              <a:buFont typeface="Nunito"/>
              <a:buChar char="-"/>
            </a:pPr>
            <a:r>
              <a:rPr lang="en" sz="1414">
                <a:solidFill>
                  <a:schemeClr val="dk2"/>
                </a:solidFill>
                <a:latin typeface="Nunito"/>
                <a:ea typeface="Nunito"/>
                <a:cs typeface="Nunito"/>
                <a:sym typeface="Nunito"/>
              </a:rPr>
              <a:t>The conversational tone  showed stronger engagement overall, while variability differed depending on metric. </a:t>
            </a:r>
            <a:endParaRPr sz="1414">
              <a:solidFill>
                <a:schemeClr val="dk2"/>
              </a:solidFill>
              <a:latin typeface="Nunito"/>
              <a:ea typeface="Nunito"/>
              <a:cs typeface="Nunito"/>
              <a:sym typeface="Nunito"/>
            </a:endParaRPr>
          </a:p>
          <a:p>
            <a:pPr indent="-318409" lvl="0" marL="457200" rtl="0" algn="l">
              <a:lnSpc>
                <a:spcPct val="115000"/>
              </a:lnSpc>
              <a:spcBef>
                <a:spcPts val="0"/>
              </a:spcBef>
              <a:spcAft>
                <a:spcPts val="0"/>
              </a:spcAft>
              <a:buClr>
                <a:schemeClr val="dk2"/>
              </a:buClr>
              <a:buSzPts val="1414"/>
              <a:buFont typeface="Nunito"/>
              <a:buChar char="-"/>
            </a:pPr>
            <a:r>
              <a:rPr lang="en" sz="1414">
                <a:solidFill>
                  <a:schemeClr val="dk2"/>
                </a:solidFill>
                <a:latin typeface="Nunito"/>
                <a:ea typeface="Nunito"/>
                <a:cs typeface="Nunito"/>
                <a:sym typeface="Nunito"/>
              </a:rPr>
              <a:t>Conversational tone recommended, promotes positive engagement and more orders</a:t>
            </a:r>
            <a:endParaRPr sz="1414">
              <a:solidFill>
                <a:schemeClr val="dk2"/>
              </a:solidFill>
              <a:latin typeface="Nunito"/>
              <a:ea typeface="Nunito"/>
              <a:cs typeface="Nunito"/>
              <a:sym typeface="Nunito"/>
            </a:endParaRPr>
          </a:p>
          <a:p>
            <a:pPr indent="-318409" lvl="0" marL="457200" rtl="0" algn="l">
              <a:lnSpc>
                <a:spcPct val="115000"/>
              </a:lnSpc>
              <a:spcBef>
                <a:spcPts val="0"/>
              </a:spcBef>
              <a:spcAft>
                <a:spcPts val="0"/>
              </a:spcAft>
              <a:buClr>
                <a:schemeClr val="dk2"/>
              </a:buClr>
              <a:buSzPts val="1414"/>
              <a:buFont typeface="Nunito"/>
              <a:buChar char="-"/>
            </a:pPr>
            <a:r>
              <a:rPr lang="en" sz="1414">
                <a:solidFill>
                  <a:schemeClr val="dk2"/>
                </a:solidFill>
                <a:latin typeface="Nunito"/>
                <a:ea typeface="Nunito"/>
                <a:cs typeface="Nunito"/>
                <a:sym typeface="Nunito"/>
              </a:rPr>
              <a:t>Monday is the day customers are most likely to open emails, and since we have an engaged customer base, getting them to open the emails is key.</a:t>
            </a:r>
            <a:endParaRPr sz="1414">
              <a:solidFill>
                <a:schemeClr val="dk2"/>
              </a:solidFill>
              <a:latin typeface="Nunito"/>
              <a:ea typeface="Nunito"/>
              <a:cs typeface="Nunito"/>
              <a:sym typeface="Nunito"/>
            </a:endParaRPr>
          </a:p>
          <a:p>
            <a:pPr indent="0" lvl="0" marL="457200" rtl="0" algn="l">
              <a:lnSpc>
                <a:spcPct val="115000"/>
              </a:lnSpc>
              <a:spcBef>
                <a:spcPts val="1200"/>
              </a:spcBef>
              <a:spcAft>
                <a:spcPts val="1200"/>
              </a:spcAft>
              <a:buNone/>
            </a:pPr>
            <a:r>
              <a:t/>
            </a:r>
            <a:endParaRPr sz="1514">
              <a:solidFill>
                <a:schemeClr val="dk2"/>
              </a:solidFill>
              <a:latin typeface="Nunito"/>
              <a:ea typeface="Nunito"/>
              <a:cs typeface="Nunito"/>
              <a:sym typeface="Nunito"/>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Summary of Findings</a:t>
            </a:r>
            <a:endParaRPr/>
          </a:p>
        </p:txBody>
      </p:sp>
      <p:sp>
        <p:nvSpPr>
          <p:cNvPr id="401" name="Google Shape;401;p32"/>
          <p:cNvSpPr txBox="1"/>
          <p:nvPr>
            <p:ph idx="1" type="body"/>
          </p:nvPr>
        </p:nvSpPr>
        <p:spPr>
          <a:xfrm>
            <a:off x="515350" y="1555950"/>
            <a:ext cx="8445900" cy="2969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The key findings also to keep in mind are that:</a:t>
            </a:r>
            <a:endParaRPr/>
          </a:p>
          <a:p>
            <a:pPr indent="-311150" lvl="0" marL="457200" rtl="0" algn="l">
              <a:spcBef>
                <a:spcPts val="1200"/>
              </a:spcBef>
              <a:spcAft>
                <a:spcPts val="0"/>
              </a:spcAft>
              <a:buSzPts val="1300"/>
              <a:buChar char="-"/>
            </a:pPr>
            <a:r>
              <a:rPr lang="en"/>
              <a:t>No statistically significant difference in unsubscribe rate by day.</a:t>
            </a:r>
            <a:endParaRPr/>
          </a:p>
          <a:p>
            <a:pPr indent="-311150" lvl="0" marL="457200" rtl="0" algn="l">
              <a:spcBef>
                <a:spcPts val="0"/>
              </a:spcBef>
              <a:spcAft>
                <a:spcPts val="0"/>
              </a:spcAft>
              <a:buSzPts val="1300"/>
              <a:buChar char="-"/>
            </a:pPr>
            <a:r>
              <a:rPr lang="en"/>
              <a:t>No statistically significant difference in order rate by day.</a:t>
            </a:r>
            <a:endParaRPr/>
          </a:p>
          <a:p>
            <a:pPr indent="-311150" lvl="0" marL="457200" rtl="0" algn="l">
              <a:spcBef>
                <a:spcPts val="0"/>
              </a:spcBef>
              <a:spcAft>
                <a:spcPts val="0"/>
              </a:spcAft>
              <a:buSzPts val="1300"/>
              <a:buChar char="-"/>
            </a:pPr>
            <a:r>
              <a:rPr lang="en"/>
              <a:t>No statistically significant difference in avg. sales amount by day.</a:t>
            </a:r>
            <a:endParaRPr/>
          </a:p>
          <a:p>
            <a:pPr indent="0" lvl="0" marL="0" rtl="0" algn="l">
              <a:spcBef>
                <a:spcPts val="1200"/>
              </a:spcBef>
              <a:spcAft>
                <a:spcPts val="0"/>
              </a:spcAft>
              <a:buNone/>
            </a:pPr>
            <a:r>
              <a:rPr lang="en"/>
              <a:t>For </a:t>
            </a:r>
            <a:r>
              <a:rPr lang="en"/>
              <a:t>strategic</a:t>
            </a:r>
            <a:r>
              <a:rPr lang="en"/>
              <a:t> recommendation purposes, proposed with the best interests of the stakeholders in mind are:</a:t>
            </a:r>
            <a:endParaRPr/>
          </a:p>
          <a:p>
            <a:pPr indent="-311150" lvl="0" marL="457200" rtl="0" algn="l">
              <a:spcBef>
                <a:spcPts val="1200"/>
              </a:spcBef>
              <a:spcAft>
                <a:spcPts val="0"/>
              </a:spcAft>
              <a:buSzPts val="1300"/>
              <a:buChar char="-"/>
            </a:pPr>
            <a:r>
              <a:rPr lang="en"/>
              <a:t>The company can choose send dates based on </a:t>
            </a:r>
            <a:r>
              <a:rPr lang="en"/>
              <a:t>convenience</a:t>
            </a:r>
            <a:r>
              <a:rPr lang="en"/>
              <a:t> in terms of operational duties.</a:t>
            </a:r>
            <a:endParaRPr/>
          </a:p>
          <a:p>
            <a:pPr indent="-311150" lvl="0" marL="457200" rtl="0" algn="l">
              <a:spcBef>
                <a:spcPts val="0"/>
              </a:spcBef>
              <a:spcAft>
                <a:spcPts val="0"/>
              </a:spcAft>
              <a:buSzPts val="1300"/>
              <a:buChar char="-"/>
            </a:pPr>
            <a:r>
              <a:rPr lang="en"/>
              <a:t>Future testing could explore other </a:t>
            </a:r>
            <a:r>
              <a:rPr lang="en"/>
              <a:t>variables</a:t>
            </a:r>
            <a:r>
              <a:rPr lang="en"/>
              <a:t> such as time of day, customer segmentation, etc.</a:t>
            </a:r>
            <a:endParaRPr/>
          </a:p>
          <a:p>
            <a:pPr indent="-311150" lvl="0" marL="457200" rtl="0" algn="l">
              <a:spcBef>
                <a:spcPts val="0"/>
              </a:spcBef>
              <a:spcAft>
                <a:spcPts val="0"/>
              </a:spcAft>
              <a:buSzPts val="1300"/>
              <a:buChar char="-"/>
            </a:pPr>
            <a:r>
              <a:rPr lang="en"/>
              <a:t>And perhaps with greater exposure to greater data sets, such </a:t>
            </a:r>
            <a:r>
              <a:rPr lang="en"/>
              <a:t>propositions for future testing can be made possible for the analytics team here at Timeless Transport Models.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33"/>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